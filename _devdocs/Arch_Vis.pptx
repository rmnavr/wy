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002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11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54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4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2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21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1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93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31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45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58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98256-0EF7-4BDF-9FC1-C79D5F0607BA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CD684-FC5F-4547-939F-F7BB403F18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43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1609726" y="4724400"/>
            <a:ext cx="8972550" cy="5429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/>
              </a:gs>
              <a:gs pos="32000">
                <a:schemeClr val="accent6">
                  <a:lumMod val="20000"/>
                  <a:lumOff val="80000"/>
                </a:schemeClr>
              </a:gs>
              <a:gs pos="53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4775" y="6476226"/>
            <a:ext cx="48237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smtClean="0">
                <a:solidFill>
                  <a:schemeClr val="bg1">
                    <a:lumMod val="50000"/>
                  </a:schemeClr>
                </a:solidFill>
              </a:rPr>
              <a:t>This is not exactly wy architecture doc. It is more like «marketing» material</a:t>
            </a:r>
            <a:endParaRPr lang="ru-RU" sz="1200" i="1" u="sng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647084" y="3846658"/>
            <a:ext cx="1311563" cy="7481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Preparator</a:t>
            </a:r>
            <a:endParaRPr lang="ru-RU" sz="1400" b="1"/>
          </a:p>
        </p:txBody>
      </p:sp>
      <p:sp>
        <p:nvSpPr>
          <p:cNvPr id="7" name="Rounded Rectangle 6"/>
          <p:cNvSpPr/>
          <p:nvPr/>
        </p:nvSpPr>
        <p:spPr>
          <a:xfrm>
            <a:off x="3165146" y="3846658"/>
            <a:ext cx="1311563" cy="7481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Parser</a:t>
            </a:r>
            <a:endParaRPr lang="ru-RU" sz="1400" b="1"/>
          </a:p>
        </p:txBody>
      </p:sp>
      <p:sp>
        <p:nvSpPr>
          <p:cNvPr id="8" name="Rounded Rectangle 7"/>
          <p:cNvSpPr/>
          <p:nvPr/>
        </p:nvSpPr>
        <p:spPr>
          <a:xfrm>
            <a:off x="4683208" y="3846658"/>
            <a:ext cx="1311563" cy="7481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Expander</a:t>
            </a:r>
            <a:endParaRPr lang="ru-RU" sz="1400" b="1"/>
          </a:p>
        </p:txBody>
      </p:sp>
      <p:sp>
        <p:nvSpPr>
          <p:cNvPr id="9" name="Rounded Rectangle 8"/>
          <p:cNvSpPr/>
          <p:nvPr/>
        </p:nvSpPr>
        <p:spPr>
          <a:xfrm>
            <a:off x="6201270" y="3846658"/>
            <a:ext cx="1311563" cy="7481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Deconstructor</a:t>
            </a:r>
            <a:endParaRPr lang="ru-RU" sz="1400" b="1"/>
          </a:p>
        </p:txBody>
      </p:sp>
      <p:sp>
        <p:nvSpPr>
          <p:cNvPr id="10" name="Rounded Rectangle 9"/>
          <p:cNvSpPr/>
          <p:nvPr/>
        </p:nvSpPr>
        <p:spPr>
          <a:xfrm>
            <a:off x="7719332" y="3846658"/>
            <a:ext cx="1311563" cy="7481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Bracketer</a:t>
            </a:r>
            <a:endParaRPr lang="ru-RU" sz="1400" b="1"/>
          </a:p>
        </p:txBody>
      </p:sp>
      <p:sp>
        <p:nvSpPr>
          <p:cNvPr id="11" name="Rounded Rectangle 10"/>
          <p:cNvSpPr/>
          <p:nvPr/>
        </p:nvSpPr>
        <p:spPr>
          <a:xfrm>
            <a:off x="9237394" y="3846658"/>
            <a:ext cx="1311563" cy="74814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Writer</a:t>
            </a:r>
            <a:endParaRPr lang="ru-RU" sz="1400" b="1"/>
          </a:p>
        </p:txBody>
      </p:sp>
      <p:cxnSp>
        <p:nvCxnSpPr>
          <p:cNvPr id="13" name="Straight Connector 12"/>
          <p:cNvCxnSpPr/>
          <p:nvPr/>
        </p:nvCxnSpPr>
        <p:spPr>
          <a:xfrm>
            <a:off x="647700" y="2349500"/>
            <a:ext cx="109156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755457" y="3971349"/>
            <a:ext cx="807893" cy="498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Hy Code</a:t>
            </a:r>
            <a:endParaRPr lang="ru-RU" sz="1400" b="1"/>
          </a:p>
        </p:txBody>
      </p:sp>
      <p:sp>
        <p:nvSpPr>
          <p:cNvPr id="18" name="Right Arrow 17"/>
          <p:cNvSpPr/>
          <p:nvPr/>
        </p:nvSpPr>
        <p:spPr>
          <a:xfrm>
            <a:off x="1478107" y="4127789"/>
            <a:ext cx="138545" cy="184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ight Arrow 18"/>
          <p:cNvSpPr/>
          <p:nvPr/>
        </p:nvSpPr>
        <p:spPr>
          <a:xfrm>
            <a:off x="10584007" y="4132550"/>
            <a:ext cx="138545" cy="184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ight Arrow 19"/>
          <p:cNvSpPr/>
          <p:nvPr/>
        </p:nvSpPr>
        <p:spPr>
          <a:xfrm>
            <a:off x="2997344" y="4134457"/>
            <a:ext cx="138545" cy="184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ight Arrow 20"/>
          <p:cNvSpPr/>
          <p:nvPr/>
        </p:nvSpPr>
        <p:spPr>
          <a:xfrm>
            <a:off x="4516105" y="4134457"/>
            <a:ext cx="138545" cy="184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ight Arrow 21"/>
          <p:cNvSpPr/>
          <p:nvPr/>
        </p:nvSpPr>
        <p:spPr>
          <a:xfrm>
            <a:off x="6034866" y="4134457"/>
            <a:ext cx="138545" cy="184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ight Arrow 22"/>
          <p:cNvSpPr/>
          <p:nvPr/>
        </p:nvSpPr>
        <p:spPr>
          <a:xfrm>
            <a:off x="7553627" y="4134457"/>
            <a:ext cx="138545" cy="184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ight Arrow 23"/>
          <p:cNvSpPr/>
          <p:nvPr/>
        </p:nvSpPr>
        <p:spPr>
          <a:xfrm>
            <a:off x="9072389" y="4134457"/>
            <a:ext cx="138545" cy="18472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342900" y="3366789"/>
            <a:ext cx="1107996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Source Code: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f x &lt;$ \y</a:t>
            </a:r>
            <a:endParaRPr lang="ru-RU" sz="1000" b="1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28975" y="2597348"/>
            <a:ext cx="1184940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Tokens: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[→→] (indent)</a:t>
            </a:r>
          </a:p>
          <a:p>
            <a:r>
              <a:rPr lang="en-US" sz="1000" b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</a:t>
            </a:r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f]  (word)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[x]  (word)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[&lt;$] (rev.a)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[\]  (cont)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[y]  (word)</a:t>
            </a:r>
            <a:endParaRPr lang="ru-RU" sz="1000" b="1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14850" y="3059013"/>
            <a:ext cx="1609725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Expanded Lines: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[[</a:t>
            </a:r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→→], [:]]]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</a:t>
            </a:r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[→→→→], [f], [x]]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[[→→→→], [\], [y]]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0675" y="3366789"/>
            <a:ext cx="141577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Prepend indents: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→→f x &lt;$ \y</a:t>
            </a:r>
            <a:endParaRPr lang="ru-RU" sz="1000" b="1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29350" y="2905125"/>
            <a:ext cx="1257300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Deconstructed</a:t>
            </a:r>
          </a:p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Lines: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GO: [2, [:]]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IO: [4</a:t>
            </a:r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 [f x]]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CT: [4, [y]]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826" y="3366789"/>
            <a:ext cx="1276349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Code assembly: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((f x) y)</a:t>
            </a:r>
            <a:endParaRPr lang="ru-RU" sz="1000" b="1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72375" y="3059013"/>
            <a:ext cx="1590675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u="sng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Brackets stacking: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[2, [:]]   (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[4, [f x]] ( )</a:t>
            </a:r>
          </a:p>
          <a:p>
            <a:r>
              <a:rPr lang="en-US" sz="1000" b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[4, [y]]   )</a:t>
            </a:r>
            <a:endParaRPr lang="en-US" sz="1000" b="1" smtClean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4324350" y="1257300"/>
            <a:ext cx="0" cy="27432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oval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600700" y="1257300"/>
            <a:ext cx="0" cy="27432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oval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19475" y="1485900"/>
            <a:ext cx="895351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i="1" u="sng" smtClean="0"/>
              <a:t>Exception:</a:t>
            </a:r>
          </a:p>
          <a:p>
            <a:r>
              <a:rPr lang="en-US" sz="1000" i="1" smtClean="0"/>
              <a:t>unrecognized tokens</a:t>
            </a:r>
            <a:endParaRPr lang="ru-RU" sz="1000" i="1"/>
          </a:p>
        </p:txBody>
      </p:sp>
      <p:sp>
        <p:nvSpPr>
          <p:cNvPr id="37" name="TextBox 36"/>
          <p:cNvSpPr txBox="1"/>
          <p:nvPr/>
        </p:nvSpPr>
        <p:spPr>
          <a:xfrm>
            <a:off x="4791076" y="1485900"/>
            <a:ext cx="80010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i="1" u="sng" smtClean="0"/>
              <a:t>Exception:</a:t>
            </a:r>
          </a:p>
          <a:p>
            <a:r>
              <a:rPr lang="en-US" sz="1000" i="1" smtClean="0"/>
              <a:t>illegal syntax</a:t>
            </a:r>
            <a:endParaRPr lang="ru-RU" sz="1000" i="1"/>
          </a:p>
        </p:txBody>
      </p:sp>
      <p:sp>
        <p:nvSpPr>
          <p:cNvPr id="38" name="TextBox 37"/>
          <p:cNvSpPr txBox="1"/>
          <p:nvPr/>
        </p:nvSpPr>
        <p:spPr>
          <a:xfrm>
            <a:off x="6610351" y="1485900"/>
            <a:ext cx="80010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i="1" u="sng" smtClean="0"/>
              <a:t>Exception:</a:t>
            </a:r>
          </a:p>
          <a:p>
            <a:r>
              <a:rPr lang="en-US" sz="1000" i="1" smtClean="0"/>
              <a:t>illegal indent</a:t>
            </a:r>
            <a:endParaRPr lang="ru-RU" sz="1000" i="1"/>
          </a:p>
        </p:txBody>
      </p:sp>
      <p:sp>
        <p:nvSpPr>
          <p:cNvPr id="39" name="TextBox 38"/>
          <p:cNvSpPr txBox="1"/>
          <p:nvPr/>
        </p:nvSpPr>
        <p:spPr>
          <a:xfrm>
            <a:off x="7991476" y="1485900"/>
            <a:ext cx="80010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i="1" u="sng" smtClean="0"/>
              <a:t>Exception:</a:t>
            </a:r>
          </a:p>
          <a:p>
            <a:r>
              <a:rPr lang="en-US" sz="1000" i="1" smtClean="0"/>
              <a:t>illegal</a:t>
            </a:r>
          </a:p>
          <a:p>
            <a:r>
              <a:rPr lang="en-US" sz="1000" i="1" smtClean="0"/>
              <a:t>de-dent</a:t>
            </a:r>
            <a:endParaRPr lang="ru-RU" sz="1000" i="1"/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7400925" y="1257300"/>
            <a:ext cx="0" cy="27432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oval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8801100" y="1257300"/>
            <a:ext cx="0" cy="27432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oval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123584" y="638175"/>
            <a:ext cx="4829916" cy="60960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mtClean="0"/>
              <a:t>ExceptionsHandler</a:t>
            </a:r>
          </a:p>
          <a:p>
            <a:pPr algn="ctr"/>
            <a:r>
              <a:rPr lang="en-US" sz="1200" smtClean="0"/>
              <a:t>(catches exceptions and converts them</a:t>
            </a:r>
            <a:br>
              <a:rPr lang="en-US" sz="1200" smtClean="0"/>
            </a:br>
            <a:r>
              <a:rPr lang="en-US" sz="1200" smtClean="0"/>
              <a:t>to user-friendly messages)</a:t>
            </a:r>
            <a:endParaRPr lang="ru-RU" sz="1200"/>
          </a:p>
        </p:txBody>
      </p:sp>
      <p:sp>
        <p:nvSpPr>
          <p:cNvPr id="52" name="TextBox 51"/>
          <p:cNvSpPr txBox="1"/>
          <p:nvPr/>
        </p:nvSpPr>
        <p:spPr>
          <a:xfrm>
            <a:off x="7972425" y="5267325"/>
            <a:ext cx="2549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smtClean="0">
                <a:solidFill>
                  <a:schemeClr val="accent6"/>
                </a:solidFill>
              </a:rPr>
              <a:t>Assembler</a:t>
            </a:r>
          </a:p>
          <a:p>
            <a:pPr algn="ctr"/>
            <a:r>
              <a:rPr lang="en-US" i="1" smtClean="0">
                <a:solidFill>
                  <a:schemeClr val="accent6"/>
                </a:solidFill>
              </a:rPr>
              <a:t>(of transpilation pipeline)</a:t>
            </a:r>
            <a:endParaRPr lang="ru-RU" i="1">
              <a:solidFill>
                <a:schemeClr val="accent6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11332" y="3961824"/>
            <a:ext cx="807893" cy="498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W</a:t>
            </a:r>
            <a:r>
              <a:rPr lang="en-US" sz="1400" b="1" smtClean="0"/>
              <a:t>y Code</a:t>
            </a:r>
            <a:endParaRPr lang="ru-RU" sz="1400" b="1"/>
          </a:p>
        </p:txBody>
      </p:sp>
      <p:sp>
        <p:nvSpPr>
          <p:cNvPr id="70" name="Right Arrow 69"/>
          <p:cNvSpPr/>
          <p:nvPr/>
        </p:nvSpPr>
        <p:spPr>
          <a:xfrm>
            <a:off x="9002857" y="817850"/>
            <a:ext cx="1560368" cy="2203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Oval 70"/>
          <p:cNvSpPr/>
          <p:nvPr/>
        </p:nvSpPr>
        <p:spPr>
          <a:xfrm>
            <a:off x="10612582" y="666749"/>
            <a:ext cx="807893" cy="504825"/>
          </a:xfrm>
          <a:prstGeom prst="ellipse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smtClean="0"/>
              <a:t>ERROR</a:t>
            </a:r>
            <a:endParaRPr lang="ru-RU" sz="1050" b="1"/>
          </a:p>
        </p:txBody>
      </p:sp>
      <p:sp>
        <p:nvSpPr>
          <p:cNvPr id="72" name="TextBox 71"/>
          <p:cNvSpPr txBox="1"/>
          <p:nvPr/>
        </p:nvSpPr>
        <p:spPr>
          <a:xfrm>
            <a:off x="10572750" y="1190625"/>
            <a:ext cx="1247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smtClean="0">
                <a:solidFill>
                  <a:schemeClr val="bg1">
                    <a:lumMod val="50000"/>
                  </a:schemeClr>
                </a:solidFill>
              </a:rPr>
              <a:t>return </a:t>
            </a:r>
            <a:r>
              <a:rPr lang="en-US" sz="1000" i="1">
                <a:solidFill>
                  <a:schemeClr val="bg1">
                    <a:lumMod val="50000"/>
                  </a:schemeClr>
                </a:solidFill>
              </a:rPr>
              <a:t>user-friendly </a:t>
            </a:r>
            <a:r>
              <a:rPr lang="en-US" sz="1000" i="1">
                <a:solidFill>
                  <a:schemeClr val="bg1">
                    <a:lumMod val="50000"/>
                  </a:schemeClr>
                </a:solidFill>
              </a:rPr>
              <a:t>error </a:t>
            </a:r>
            <a:r>
              <a:rPr lang="en-US" sz="1000" i="1" smtClean="0">
                <a:solidFill>
                  <a:schemeClr val="bg1">
                    <a:lumMod val="50000"/>
                  </a:schemeClr>
                </a:solidFill>
              </a:rPr>
              <a:t>message</a:t>
            </a:r>
            <a:endParaRPr lang="ru-RU" sz="10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677525" y="4457699"/>
            <a:ext cx="1066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smtClean="0">
                <a:solidFill>
                  <a:schemeClr val="bg1">
                    <a:lumMod val="50000"/>
                  </a:schemeClr>
                </a:solidFill>
              </a:rPr>
              <a:t>return string of transpiled code</a:t>
            </a:r>
            <a:endParaRPr lang="ru-RU" sz="1000" i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19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200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DejaVu Sans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Pups</dc:creator>
  <cp:lastModifiedBy>Pups</cp:lastModifiedBy>
  <cp:revision>18</cp:revision>
  <dcterms:created xsi:type="dcterms:W3CDTF">2025-11-09T21:40:50Z</dcterms:created>
  <dcterms:modified xsi:type="dcterms:W3CDTF">2025-11-09T22:28:59Z</dcterms:modified>
</cp:coreProperties>
</file>